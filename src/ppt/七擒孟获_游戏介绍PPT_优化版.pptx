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00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imHei"/>
              </a:defRPr>
            </a:pPr>
            <a:r>
              <a:rPr a:eaTypeface="SimHei"/>
              <a:t>七擒</a:t>
            </a:r>
            <a:br/>
            <a:r>
              <a:rPr a:eaTypeface="SimHei"/>
              <a:t>孟获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420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E0E0"/>
                </a:solidFill>
                <a:latin typeface="Microsoft YaHei"/>
              </a:defRPr>
            </a:pPr>
            <a:r>
              <a:rPr a:eaTypeface="Microsoft YaHei"/>
              <a:t>像素三国</a:t>
            </a:r>
            <a:br/>
            <a:r>
              <a:rPr a:eaTypeface="Microsoft YaHei"/>
              <a:t>横版动作叙事游戏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58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0C0"/>
                </a:solidFill>
                <a:latin typeface="Microsoft YaHei"/>
              </a:defRPr>
            </a:pPr>
            <a:r>
              <a:rPr a:eaTypeface="Microsoft YaHei"/>
              <a:t>打败 Boss 不是终点，</a:t>
            </a:r>
            <a:br/>
            <a:r>
              <a:rPr a:eaTypeface="Microsoft YaHei"/>
              <a:t>而是故事的开始。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0" y="2160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腾讯云黑客松 · 叙事类游戏赛道</a:t>
            </a:r>
          </a:p>
          <a:p>
            <a:pPr>
              <a:spcAft>
                <a:spcPts val="200"/>
              </a:spcAft>
              <a:defRPr sz="800" b="0">
                <a:solidFill>
                  <a:srgbClr val="9CA3AF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8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横版射击 × 七擒七纵 × 攻心为上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Phase 2 MVP — Phaser 3 + TypeScript + Vite</a:t>
            </a:r>
          </a:p>
          <a:p>
            <a:pPr>
              <a:spcAft>
                <a:spcPts val="200"/>
              </a:spcAft>
              <a:defRPr sz="12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Web 可玩 Demo，浏览器直跑</a:t>
            </a:r>
          </a:p>
          <a:p>
            <a:pPr>
              <a:spcAft>
                <a:spcPts val="200"/>
              </a:spcAft>
              <a:defRPr sz="1000" b="0">
                <a:solidFill>
                  <a:srgbClr val="9CA3AF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rPr a:eaTypeface="Microsoft YaHei"/>
              <a:t>技术栈：Phaser 3 · TypeScript · CloudBase · 腾讯混元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0" y="6120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v1.1 · 2026.06 · 像素三国视觉概念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999"/>
            <a:ext cx="9144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15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15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作品定位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140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核心价值主张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2000" y="115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2000" y="115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故事背景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2000" y="1404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公元225年南中之战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015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2015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核心循环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26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擒而不杀的游戏机制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2000" y="2015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72000" y="2015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七关概览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2000" y="226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七擒七纵关卡设计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28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28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心态弧线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3131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孟获七阶段变化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2000" y="28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2000" y="288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角色弧线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2000" y="3131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三条成长线交织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3743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000" y="3743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叙事创新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000" y="3995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与传统动作游戏的对比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2000" y="3743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2000" y="3743999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美术方向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2000" y="3995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像素三国视觉体系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000" y="4608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000" y="46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技术方案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000" y="48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Phaser 3 + AI 增强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2000" y="4608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72000" y="4608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MVP 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2000" y="4860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第1关完整纵切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547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" y="547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研发进度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000" y="5723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Phase 1~4 路线图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2000" y="5472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2000" y="547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结尾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2000" y="5723999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核心理念与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作品定位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动作游戏的胜利，被改写成叙事起点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080000"/>
            <a:ext cx="810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152000"/>
            <a:ext cx="766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核心定义</a:t>
            </a:r>
          </a:p>
          <a:p>
            <a:pPr>
              <a:spcAft>
                <a:spcPts val="2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一款像素三国风格的横版动作游戏，以“擒而不杀、纵而再战”的七擒七纵循环为叙事引擎，</a:t>
            </a:r>
          </a:p>
          <a:p>
            <a:pPr>
              <a:spcAft>
                <a:spcPts val="200"/>
              </a:spcAft>
              <a:defRPr sz="1400" b="0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让玩家扮演汉军无名士卒，在诸葛亮的计谋指引下，经历七场与蛮王孟获的宿命对决。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340000"/>
            <a:ext cx="1944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448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战斗感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80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魂斗罗式横版射击</a:t>
            </a:r>
            <a:br/>
            <a:r>
              <a:rPr a:eaTypeface="Microsoft YaHei"/>
              <a:t>爽快直接，像素子弹横飞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6000" y="2340000"/>
            <a:ext cx="1944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0000" y="2448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叙事感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280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七擒七纵循环结构</a:t>
            </a:r>
            <a:br/>
            <a:r>
              <a:rPr a:eaTypeface="Microsoft YaHei"/>
              <a:t>每场Boss战结束才是故事开始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2340000"/>
            <a:ext cx="1944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4000" y="2448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文化感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4000" y="280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三国智慧+蛮夷文化</a:t>
            </a:r>
            <a:br/>
            <a:r>
              <a:rPr a:eaTypeface="Microsoft YaHei"/>
              <a:t>立体呈现，非标签式古装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4000" y="2340000"/>
            <a:ext cx="1944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8000" y="2448000"/>
            <a:ext cx="165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成长感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8000" y="2808000"/>
            <a:ext cx="165599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孟获从傲慢到折服</a:t>
            </a:r>
            <a:br/>
            <a:r>
              <a:rPr a:eaTypeface="Microsoft YaHei"/>
              <a:t>玩家亲身见证心态弧线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320000"/>
            <a:ext cx="8100000" cy="54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4392000"/>
            <a:ext cx="766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差异化定位</a:t>
            </a:r>
          </a:p>
          <a:p>
            <a:pPr>
              <a:spcAft>
                <a:spcPts val="200"/>
              </a:spcAft>
              <a:defRPr sz="12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“大多数动作游戏的 Boss 打倒即结束。《七擒孟获》的独特性在于：打倒 Boss 只是故事的开始。”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112000"/>
            <a:ext cx="1944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5184000"/>
            <a:ext cx="19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擒而不杀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6000" y="5112000"/>
            <a:ext cx="1944000" cy="3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6000" y="5184000"/>
            <a:ext cx="19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纵而再战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5112000"/>
            <a:ext cx="1944000" cy="360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0000" y="5184000"/>
            <a:ext cx="19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小兵视角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04000" y="5112000"/>
            <a:ext cx="1944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04000" y="5184000"/>
            <a:ext cx="19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AI计谋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01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故事背景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公元225年：南中之战，真正的战场在人心</a:t>
            </a:r>
          </a:p>
        </p:txBody>
      </p:sp>
      <p:sp>
        <p:nvSpPr>
          <p:cNvPr id="7" name="Oval 6"/>
          <p:cNvSpPr/>
          <p:nvPr/>
        </p:nvSpPr>
        <p:spPr>
          <a:xfrm>
            <a:off x="864000" y="1080000"/>
            <a:ext cx="576000" cy="576000"/>
          </a:xfrm>
          <a:prstGeom prst="ellipse">
            <a:avLst/>
          </a:prstGeom>
          <a:solidFill>
            <a:srgbClr val="4A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223年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33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2000" y="1350000"/>
            <a:ext cx="648000" cy="21600"/>
          </a:xfrm>
          <a:prstGeom prst="rect">
            <a:avLst/>
          </a:prstGeom>
          <a:solidFill>
            <a:srgbClr val="4A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872000"/>
            <a:ext cx="13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刘备白帝城托孤</a:t>
            </a:r>
            <a:br/>
            <a:r>
              <a:rPr a:eaTypeface="Microsoft YaHei"/>
              <a:t>刘禅继位，诸葛亮辅政</a:t>
            </a:r>
          </a:p>
        </p:txBody>
      </p:sp>
      <p:sp>
        <p:nvSpPr>
          <p:cNvPr id="12" name="Oval 11"/>
          <p:cNvSpPr/>
          <p:nvPr/>
        </p:nvSpPr>
        <p:spPr>
          <a:xfrm>
            <a:off x="2520000" y="1080000"/>
            <a:ext cx="576000" cy="576000"/>
          </a:xfrm>
          <a:prstGeom prst="ellipse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60000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225年</a:t>
            </a:r>
            <a:br/>
            <a:r>
              <a:rPr a:eaTypeface="Microsoft YaHei"/>
              <a:t>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0000" y="133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68000" y="1350000"/>
            <a:ext cx="648000" cy="216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8000" y="1872000"/>
            <a:ext cx="13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南中蛮族叛乱</a:t>
            </a:r>
            <a:br/>
            <a:r>
              <a:rPr a:eaTypeface="Microsoft YaHei"/>
              <a:t>诸葛亮率军南征</a:t>
            </a:r>
          </a:p>
        </p:txBody>
      </p:sp>
      <p:sp>
        <p:nvSpPr>
          <p:cNvPr id="17" name="Oval 16"/>
          <p:cNvSpPr/>
          <p:nvPr/>
        </p:nvSpPr>
        <p:spPr>
          <a:xfrm>
            <a:off x="4175999" y="1080000"/>
            <a:ext cx="576000" cy="576000"/>
          </a:xfrm>
          <a:prstGeom prst="ellipse">
            <a:avLst/>
          </a:prstGeom>
          <a:solidFill>
            <a:srgbClr val="5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5999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225年</a:t>
            </a:r>
            <a:br/>
            <a:r>
              <a:rPr a:eaTypeface="Microsoft YaHei"/>
              <a:t>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5999" y="133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3999" y="1350000"/>
            <a:ext cx="648000" cy="21600"/>
          </a:xfrm>
          <a:prstGeom prst="rect">
            <a:avLst/>
          </a:prstGeom>
          <a:solidFill>
            <a:srgbClr val="5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3999" y="1872000"/>
            <a:ext cx="13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进入南中腹地</a:t>
            </a:r>
            <a:br/>
            <a:r>
              <a:rPr a:eaTypeface="Microsoft YaHei"/>
              <a:t>七擒七纵交锋</a:t>
            </a:r>
          </a:p>
        </p:txBody>
      </p:sp>
      <p:sp>
        <p:nvSpPr>
          <p:cNvPr id="22" name="Oval 21"/>
          <p:cNvSpPr/>
          <p:nvPr/>
        </p:nvSpPr>
        <p:spPr>
          <a:xfrm>
            <a:off x="5832000" y="1080000"/>
            <a:ext cx="576000" cy="576000"/>
          </a:xfrm>
          <a:prstGeom prst="ellipse">
            <a:avLst/>
          </a:prstGeom>
          <a:solidFill>
            <a:srgbClr val="8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71999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225年</a:t>
            </a:r>
            <a:br/>
            <a:r>
              <a:rPr a:eaTypeface="Microsoft YaHei"/>
              <a:t>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1999" y="133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80000" y="1350000"/>
            <a:ext cx="648000" cy="21600"/>
          </a:xfrm>
          <a:prstGeom prst="rect">
            <a:avLst/>
          </a:prstGeom>
          <a:solidFill>
            <a:srgbClr val="8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9999" y="1872000"/>
            <a:ext cx="13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孟获折服归降</a:t>
            </a:r>
            <a:br/>
            <a:r>
              <a:rPr a:eaTypeface="Microsoft YaHei"/>
              <a:t>南中平定</a:t>
            </a:r>
          </a:p>
        </p:txBody>
      </p:sp>
      <p:sp>
        <p:nvSpPr>
          <p:cNvPr id="27" name="Oval 26"/>
          <p:cNvSpPr/>
          <p:nvPr/>
        </p:nvSpPr>
        <p:spPr>
          <a:xfrm>
            <a:off x="7487999" y="1080000"/>
            <a:ext cx="576000" cy="576000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7999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225年</a:t>
            </a:r>
            <a:br/>
            <a:r>
              <a:rPr a:eaTypeface="Microsoft YaHei"/>
              <a:t>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7999" y="1332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5999" y="1872000"/>
            <a:ext cx="136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班师回成都</a:t>
            </a:r>
            <a:br/>
            <a:r>
              <a:rPr a:eaTypeface="Microsoft YaHei"/>
              <a:t>奠定北伐基础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2340000"/>
            <a:ext cx="8100000" cy="136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2412000"/>
            <a:ext cx="766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史书记载 — 《三国志·蜀书·诸葛亮传》裴松之注引《汉晋春秋》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“亮至南中，所在战捷。闻孟获者，为夷、汉所服，募生致之。”</a:t>
            </a:r>
          </a:p>
          <a:p>
            <a:pPr>
              <a:spcAft>
                <a:spcPts val="200"/>
              </a:spcAft>
              <a:defRPr sz="13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既得，使观于营阵之间，问曰：‘此军何如？’</a:t>
            </a:r>
          </a:p>
          <a:p>
            <a:pPr>
              <a:spcAft>
                <a:spcPts val="200"/>
              </a:spcAft>
              <a:defRPr sz="13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获对曰：‘向者不知虚实，故败。’亮笑，纵使更战。</a:t>
            </a:r>
          </a:p>
          <a:p>
            <a:pPr>
              <a:spcAft>
                <a:spcPts val="200"/>
              </a:spcAft>
              <a:defRPr sz="13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七纵七禽，而亮犹遣获。获止不去，曰：‘公，天威也，南人不复反矣。’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00" y="4031999"/>
            <a:ext cx="81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历史还原度取舍原则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核心事件严格遵循 · 具体战斗艺术加工 · 蛮夷文化立体呈现 · 人物基于史实延伸 · 台词整体创作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5220000"/>
            <a:ext cx="81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00" y="5256000"/>
            <a:ext cx="78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游戏舞台：南中地理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西洱河（平原）→ 泸水（天险）→ 紫荆山（密林）→ 秃龙洞（洞窟）→ 蛮族营寨 → 要塞 → 银坑洞王庭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02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核心循环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擒而不杀，纵而再战 — 每一次“打赢”都是新故事的开始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2000"/>
            <a:ext cx="1548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000" y="972000"/>
            <a:ext cx="684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1008000"/>
            <a:ext cx="6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440000"/>
            <a:ext cx="13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开场叙事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00000"/>
            <a:ext cx="13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诸葛亮授计</a:t>
            </a:r>
            <a:br/>
            <a:r>
              <a:rPr a:eaTypeface="Microsoft YaHei"/>
              <a:t>AI动态台词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0000" y="1152000"/>
            <a:ext cx="1548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2000" y="972000"/>
            <a:ext cx="684000" cy="3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2000" y="1008000"/>
            <a:ext cx="6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000" y="1440000"/>
            <a:ext cx="13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关卡战斗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1800000"/>
            <a:ext cx="13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横版射击</a:t>
            </a:r>
            <a:br/>
            <a:r>
              <a:rPr a:eaTypeface="Microsoft YaHei"/>
              <a:t>中途叙事对话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8000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7999" y="1152000"/>
            <a:ext cx="1548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9999" y="972000"/>
            <a:ext cx="684000" cy="360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9999" y="1008000"/>
            <a:ext cx="6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6000" y="1440000"/>
            <a:ext cx="13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Boss 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6000" y="1800000"/>
            <a:ext cx="13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孟获登场</a:t>
            </a:r>
            <a:br/>
            <a:r>
              <a:rPr a:eaTypeface="Microsoft YaHei"/>
              <a:t>独特战斗机制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5999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15999" y="1152000"/>
            <a:ext cx="1548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47999" y="972000"/>
            <a:ext cx="684000" cy="3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7999" y="1008000"/>
            <a:ext cx="6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3999" y="1440000"/>
            <a:ext cx="13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rPr a:eaTypeface="Microsoft YaHei"/>
              <a:t>擒获叙事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3999" y="1800000"/>
            <a:ext cx="13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孟获反应</a:t>
            </a:r>
            <a:br/>
            <a:r>
              <a:rPr a:eaTypeface="Microsoft YaHei"/>
              <a:t>释放抉择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3999" y="1620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43999" y="1152000"/>
            <a:ext cx="1548000" cy="13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5999" y="972000"/>
            <a:ext cx="684000" cy="36000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5999" y="1008000"/>
            <a:ext cx="6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000" y="1440000"/>
            <a:ext cx="13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45A3C"/>
                </a:solidFill>
                <a:latin typeface="Microsoft YaHei"/>
              </a:defRPr>
            </a:pPr>
            <a:r>
              <a:rPr a:eaTypeface="Microsoft YaHei"/>
              <a:t>关卡结算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000" y="1800000"/>
            <a:ext cx="133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评价系统</a:t>
            </a:r>
            <a:br/>
            <a:r>
              <a:rPr a:eaTypeface="Microsoft YaHei"/>
              <a:t>解锁碎片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2880000"/>
            <a:ext cx="8100000" cy="7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2951999"/>
            <a:ext cx="766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核心循环 × 7 次</a:t>
            </a:r>
          </a:p>
          <a:p>
            <a:pPr>
              <a:spcAft>
                <a:spcPts val="200"/>
              </a:spcAft>
              <a:defRPr sz="12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[主菜单] → [选关/继续] → 开场叙事 → 关卡战斗 → Boss战 → 擒获叙事 → 关卡结算 → 返回选关</a:t>
            </a:r>
          </a:p>
          <a:p>
            <a:pPr>
              <a:spcAft>
                <a:spcPts val="200"/>
              </a:spcAft>
              <a:defRPr sz="12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循环 7 次后 → 终章·第七擒·折服 → 结局过场 → 制作名单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3960000"/>
            <a:ext cx="3780000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00" y="4031999"/>
            <a:ext cx="352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叙事介入方式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图文过场（关键节点）: 每关开场/擒获后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对话框（过程叙述）: 关卡中途/Boss战前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时长设计: 过场15-60秒 / 对话框2-3秒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可跳过性: 除首通擒获过场外，均可跳过</a:t>
            </a:r>
          </a:p>
          <a:p>
            <a:pPr>
              <a:spcAft>
                <a:spcPts val="200"/>
              </a:spcAft>
              <a:defRPr sz="600" b="0">
                <a:solidFill>
                  <a:srgbClr val="4B556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武器渐进: 基础弩→连弩(第3关)→火箭(第5关)→诸葛连弩(第7关)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0000" y="3960000"/>
            <a:ext cx="3851999" cy="16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24000" y="4031999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战斗操作（魂斗罗式）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移动：左右横移，标准平台移动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跳跃：单段跳 + 空中微调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射击：八方向射击（上下左右+斜向）</a:t>
            </a:r>
          </a:p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闪避：短无敌帧翻滚（第2关解锁）</a:t>
            </a:r>
          </a:p>
          <a:p>
            <a:pPr>
              <a:spcAft>
                <a:spcPts val="200"/>
              </a:spcAft>
              <a:defRPr sz="600" b="0">
                <a:solidFill>
                  <a:srgbClr val="4B5563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0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故事碎片：每关隐藏1块，集齐7块解锁完整史书记载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03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七关概览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每关机制变化反映孟获心态变化 — 关卡即叙事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792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134000"/>
            <a:ext cx="6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关卡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4000" y="1080000"/>
            <a:ext cx="1080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8000" y="1134000"/>
            <a:ext cx="97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名称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000" y="1080000"/>
            <a:ext cx="648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8000" y="1134000"/>
            <a:ext cx="5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场景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2000" y="1080000"/>
            <a:ext cx="1007999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6000" y="1134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色调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000" y="1080000"/>
            <a:ext cx="540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000" y="1134000"/>
            <a:ext cx="43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难度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1080000"/>
            <a:ext cx="1800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4000" y="1134000"/>
            <a:ext cx="16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核心机制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1080000"/>
            <a:ext cx="2160000" cy="3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3999" y="1134000"/>
            <a:ext cx="20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Boss战特色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1440000"/>
            <a:ext cx="792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" y="1440000"/>
            <a:ext cx="72000" cy="468000"/>
          </a:xfrm>
          <a:prstGeom prst="rect">
            <a:avLst/>
          </a:prstGeom>
          <a:solidFill>
            <a:srgbClr val="4A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1475999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第1擒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4000" y="1440000"/>
            <a:ext cx="108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2000" y="1475999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西洱河初战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4000" y="1440000"/>
            <a:ext cx="648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2000" y="1475999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平原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52000" y="1440000"/>
            <a:ext cx="1007999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0000" y="1475999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翠绿+天蓝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0000" y="1440000"/>
            <a:ext cx="54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8000" y="1475999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0000" y="1440000"/>
            <a:ext cx="180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000" y="1475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基础教学：移动/跳跃/射击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000" y="1440000"/>
            <a:ext cx="21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8000" y="1475999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孟获骑象，轻敌冒进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1944000"/>
            <a:ext cx="792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000" y="1944000"/>
            <a:ext cx="72000" cy="4680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000" y="1980000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第2擒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24000" y="1944000"/>
            <a:ext cx="108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2000" y="1980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泸水天险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4000" y="1944000"/>
            <a:ext cx="648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12000" y="1980000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河岸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52000" y="1944000"/>
            <a:ext cx="1007999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0000" y="1980000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深蓝+灰白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60000" y="1944000"/>
            <a:ext cx="54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68000" y="1980000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0000" y="1944000"/>
            <a:ext cx="180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08000" y="1980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跳跃挑战：水流+浮水平台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000" y="1944000"/>
            <a:ext cx="216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8000" y="1980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乘船水战，利用地形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000" y="2448000"/>
            <a:ext cx="792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2000" y="2448000"/>
            <a:ext cx="72000" cy="468000"/>
          </a:xfrm>
          <a:prstGeom prst="rect">
            <a:avLst/>
          </a:prstGeom>
          <a:solidFill>
            <a:srgbClr val="5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0000" y="2484000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第3擒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4000" y="2448000"/>
            <a:ext cx="108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2000" y="2484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紫荆山伏兵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04000" y="2448000"/>
            <a:ext cx="648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12000" y="2484000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密林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52000" y="2448000"/>
            <a:ext cx="1007999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60000" y="2484000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墨绿+褐黄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60000" y="2448000"/>
            <a:ext cx="54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68000" y="2484000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00000" y="2448000"/>
            <a:ext cx="180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08000" y="2484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视野遮挡+伏击+隐身识别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0000" y="2448000"/>
            <a:ext cx="21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8000" y="2484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丛林猎手，设伏偷袭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" y="2951999"/>
            <a:ext cx="792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2000" y="2951999"/>
            <a:ext cx="72000" cy="468000"/>
          </a:xfrm>
          <a:prstGeom prst="rect">
            <a:avLst/>
          </a:prstGeom>
          <a:solidFill>
            <a:srgbClr val="8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00" y="2987999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第4擒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24000" y="2951999"/>
            <a:ext cx="108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32000" y="2987999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秃龙洞毒雾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04000" y="2951999"/>
            <a:ext cx="648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12000" y="2987999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洞窟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52000" y="2951999"/>
            <a:ext cx="1007999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60000" y="2987999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暗紫+荧光绿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60000" y="2951999"/>
            <a:ext cx="54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68000" y="2987999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★★★★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00000" y="2951999"/>
            <a:ext cx="180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08000" y="2987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环境伤害+视野黑暗+资源管理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0000" y="2951999"/>
            <a:ext cx="216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8000" y="2987999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联合祝融夫人，毒雾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2000" y="3456000"/>
            <a:ext cx="792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2000" y="3456000"/>
            <a:ext cx="72000" cy="46800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0000" y="3491999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第5擒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24000" y="3456000"/>
            <a:ext cx="108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32000" y="3491999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蛮族联军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04000" y="3456000"/>
            <a:ext cx="648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12000" y="3491999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营寨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952000" y="3456000"/>
            <a:ext cx="1007999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60000" y="3491999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赭红+土黄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60000" y="3456000"/>
            <a:ext cx="54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68000" y="3491999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★★★★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00000" y="3456000"/>
            <a:ext cx="180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08000" y="3491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多波次敌兵+双Boss战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0000" y="3456000"/>
            <a:ext cx="21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8000" y="3491999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倾巢而出，赌上一切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2000" y="3960000"/>
            <a:ext cx="792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32000" y="3960000"/>
            <a:ext cx="72000" cy="4680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0000" y="3996000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第6擒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24000" y="3960000"/>
            <a:ext cx="108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32000" y="3996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木兽炎阵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04000" y="3960000"/>
            <a:ext cx="648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12000" y="3996000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要塞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952000" y="3960000"/>
            <a:ext cx="1007999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060000" y="3996000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深红+铁灰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960000" y="3960000"/>
            <a:ext cx="54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68000" y="3996000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★★★★★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00000" y="3960000"/>
            <a:ext cx="180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08000" y="3996000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火焰陷阱+木兽机关+反制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00000" y="3960000"/>
            <a:ext cx="2160000" cy="46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8000" y="399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出奇制胜，用尽底牌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32000" y="4463999"/>
            <a:ext cx="792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32000" y="4463999"/>
            <a:ext cx="72000" cy="4680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0000" y="4499999"/>
            <a:ext cx="61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第7擒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224000" y="4463999"/>
            <a:ext cx="108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332000" y="4499999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银坑洞决战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304000" y="4463999"/>
            <a:ext cx="648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12000" y="4499999"/>
            <a:ext cx="46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王庭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52000" y="4463999"/>
            <a:ext cx="1007999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060000" y="4499999"/>
            <a:ext cx="827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金+深棕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960000" y="4463999"/>
            <a:ext cx="54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068000" y="4499999"/>
            <a:ext cx="3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★★★★★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00000" y="4463999"/>
            <a:ext cx="180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608000" y="4499999"/>
            <a:ext cx="16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全机制综合+三阶段Boss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00000" y="4463999"/>
            <a:ext cx="21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08000" y="4499999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背水一战，最终折服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04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孟获心态弧线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从傲慢到折服 — 七擒七纵的本质是让对手“被理解”，而非“被击败”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152000"/>
            <a:ext cx="1116000" cy="180000"/>
          </a:xfrm>
          <a:prstGeom prst="rect">
            <a:avLst/>
          </a:prstGeom>
          <a:solidFill>
            <a:srgbClr val="4A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903C"/>
                </a:solidFill>
                <a:latin typeface="Microsoft YaHei"/>
              </a:defRPr>
            </a:pPr>
            <a:r>
              <a:rPr a:eaTypeface="Microsoft YaHei"/>
              <a:t>第1擒</a:t>
            </a:r>
            <a:br/>
            <a:r>
              <a:rPr a:eaTypeface="Microsoft YaHei"/>
              <a:t>傲慢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3C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“诡计！汉人狡诈！</a:t>
            </a:r>
            <a:br/>
            <a:r>
              <a:rPr a:eaTypeface="Microsoft YaHei"/>
              <a:t>我不服！”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5999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55999" y="1152000"/>
            <a:ext cx="1116000" cy="1800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5999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C4"/>
                </a:solidFill>
                <a:latin typeface="Microsoft YaHei"/>
              </a:defRPr>
            </a:pPr>
            <a:r>
              <a:rPr a:eaTypeface="Microsoft YaHei"/>
              <a:t>第2擒</a:t>
            </a:r>
            <a:br/>
            <a:r>
              <a:rPr a:eaTypeface="Microsoft YaHei"/>
              <a:t>辩解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5999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B82C4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8000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“此乃地利之失，</a:t>
            </a:r>
            <a:br/>
            <a:r>
              <a:rPr a:eaTypeface="Microsoft YaHei"/>
              <a:t>非战之罪！”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0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000" y="1152000"/>
            <a:ext cx="1116000" cy="180000"/>
          </a:xfrm>
          <a:prstGeom prst="rect">
            <a:avLst/>
          </a:prstGeom>
          <a:solidFill>
            <a:srgbClr val="5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0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C7A3A"/>
                </a:solidFill>
                <a:latin typeface="Microsoft YaHei"/>
              </a:defRPr>
            </a:pPr>
            <a:r>
              <a:rPr a:eaTypeface="Microsoft YaHei"/>
              <a:t>第3擒</a:t>
            </a:r>
            <a:br/>
            <a:r>
              <a:rPr a:eaTypeface="Microsoft YaHei"/>
              <a:t>困惑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0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C7A3A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1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“……汝究竟</a:t>
            </a:r>
            <a:br/>
            <a:r>
              <a:rPr a:eaTypeface="Microsoft YaHei"/>
              <a:t>欲如何？”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03999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03999" y="1152000"/>
            <a:ext cx="1116000" cy="180000"/>
          </a:xfrm>
          <a:prstGeom prst="rect">
            <a:avLst/>
          </a:prstGeom>
          <a:solidFill>
            <a:srgbClr val="8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03999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4FA8"/>
                </a:solidFill>
                <a:latin typeface="Microsoft YaHei"/>
              </a:defRPr>
            </a:pPr>
            <a:r>
              <a:rPr a:eaTypeface="Microsoft YaHei"/>
              <a:t>第4擒</a:t>
            </a:r>
            <a:br/>
            <a:r>
              <a:rPr a:eaTypeface="Microsoft YaHei"/>
              <a:t>倔强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3999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4FA8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5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“纵我七次，</a:t>
            </a:r>
            <a:br/>
            <a:r>
              <a:rPr a:eaTypeface="Microsoft YaHei"/>
              <a:t>我也不降！”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28000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28000" y="1152000"/>
            <a:ext cx="1116000" cy="18000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8000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5A3C"/>
                </a:solidFill>
                <a:latin typeface="Microsoft YaHei"/>
              </a:defRPr>
            </a:pPr>
            <a:r>
              <a:rPr a:eaTypeface="Microsoft YaHei"/>
              <a:t>第5擒</a:t>
            </a:r>
            <a:br/>
            <a:r>
              <a:rPr a:eaTypeface="Microsoft YaHei"/>
              <a:t>挣扎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8000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5A3C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“我蛮族男儿，</a:t>
            </a:r>
            <a:br/>
            <a:r>
              <a:rPr a:eaTypeface="Microsoft YaHei"/>
              <a:t>岂能降汉！”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2000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52000" y="1152000"/>
            <a:ext cx="1116000" cy="1800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2000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2E2E"/>
                </a:solidFill>
                <a:latin typeface="Microsoft YaHei"/>
              </a:defRPr>
            </a:pPr>
            <a:r>
              <a:rPr a:eaTypeface="Microsoft YaHei"/>
              <a:t>第6擒</a:t>
            </a:r>
            <a:br/>
            <a:r>
              <a:rPr a:eaTypeface="Microsoft YaHei"/>
              <a:t>反思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000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2E2E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3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“你是妖魔吗？</a:t>
            </a:r>
            <a:br/>
            <a:r>
              <a:rPr a:eaTypeface="Microsoft YaHei"/>
              <a:t>你们来做什么？”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5999" y="1152000"/>
            <a:ext cx="1116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5999" y="1152000"/>
            <a:ext cx="1116000" cy="1800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5999" y="1404000"/>
            <a:ext cx="111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49A3C"/>
                </a:solidFill>
                <a:latin typeface="Microsoft YaHei"/>
              </a:defRPr>
            </a:pPr>
            <a:r>
              <a:rPr a:eaTypeface="Microsoft YaHei"/>
              <a:t>第7擒</a:t>
            </a:r>
            <a:br/>
            <a:r>
              <a:rPr a:eaTypeface="Microsoft YaHei"/>
              <a:t>折服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5999" y="205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9A3C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7999" y="2304000"/>
            <a:ext cx="97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“公，天威也。</a:t>
            </a:r>
            <a:br/>
            <a:r>
              <a:rPr a:eaTypeface="Microsoft YaHei"/>
              <a:t>南人不复反矣。”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4140000"/>
            <a:ext cx="8100000" cy="126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" y="4212000"/>
            <a:ext cx="766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设计洞察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3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孟获反抗的根本原因不是好战，而是恐惧 — 恐惧南中失去独立，恐惧族人被奴役。</a:t>
            </a:r>
          </a:p>
          <a:p>
            <a:pPr>
              <a:spcAft>
                <a:spcPts val="200"/>
              </a:spcAft>
              <a:defRPr sz="13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诸葛亮最终降服的，不是孟获的武力，而是他的恐惧。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rPr a:eaTypeface="Microsoft YaHei"/>
              <a:t>核心叙事钩子：为什么打赢了还要放人？→ 答案随7关逐步揭晓。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05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三条角色弧线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诸葛亮、孟获、玩家小卒共同完成“心战”的闭环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080000"/>
            <a:ext cx="2700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080000"/>
            <a:ext cx="2700000" cy="14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29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玩家小卒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548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汉军无名士卒 — 玩家化身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180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一个普通蜀中青年，应征入伍。</a:t>
            </a:r>
            <a:br/>
            <a:r>
              <a:rPr a:eaTypeface="Microsoft YaHei"/>
              <a:t>他不是名将之后，没有显赫家世—</a:t>
            </a:r>
            <a:br/>
            <a:r>
              <a:rPr a:eaTypeface="Microsoft YaHei"/>
              <a:t>就是在成都街巷里长大的普通人。</a:t>
            </a:r>
            <a:br/>
            <a:r>
              <a:rPr a:eaTypeface="Microsoft YaHei"/>
              <a:t>被诸葛亮选为前锋斥候，亲历</a:t>
            </a:r>
            <a:br/>
            <a:r>
              <a:rPr a:eaTypeface="Microsoft YaHei"/>
              <a:t>七擒孟获的每一个关键时刻。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2808000"/>
            <a:ext cx="2340000" cy="288000"/>
          </a:xfrm>
          <a:prstGeom prst="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" y="2844000"/>
            <a:ext cx="21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困惑 → 思考 → 共情 → 见证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3168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“丞相为何放走敌人？”</a:t>
            </a:r>
            <a:br/>
            <a:r>
              <a:rPr a:eaTypeface="Microsoft YaHei"/>
              <a:t>→ 好像有点理解了</a:t>
            </a:r>
            <a:br/>
            <a:r>
              <a:rPr a:eaTypeface="Microsoft YaHei"/>
              <a:t>→ 孟获也是个有血有肉的人</a:t>
            </a:r>
            <a:br/>
            <a:r>
              <a:rPr a:eaTypeface="Microsoft YaHei"/>
              <a:t>→ 我见证了历史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1999" y="1080000"/>
            <a:ext cx="2700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1999" y="1080000"/>
            <a:ext cx="2700000" cy="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1999" y="129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诸葛亮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999" y="1548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蜀汉丞相 · 南征统帅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999" y="180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45岁。羽扇纶巾，深蓝色长袍。</a:t>
            </a:r>
            <a:br/>
            <a:r>
              <a:rPr a:eaTypeface="Microsoft YaHei"/>
              <a:t>不是一个全知全能的“神仙”，</a:t>
            </a:r>
            <a:br/>
            <a:r>
              <a:rPr a:eaTypeface="Microsoft YaHei"/>
              <a:t>而是一个有智慧、有远见、</a:t>
            </a:r>
            <a:br/>
            <a:r>
              <a:rPr a:eaTypeface="Microsoft YaHei"/>
              <a:t>有温度的人。善于观察和分析，</a:t>
            </a:r>
            <a:br/>
            <a:r>
              <a:rPr a:eaTypeface="Microsoft YaHei"/>
              <a:t>但也会面临不确定性。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1999" y="2808000"/>
            <a:ext cx="2340000" cy="288000"/>
          </a:xfrm>
          <a:prstGeom prst="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3999" y="2844000"/>
            <a:ext cx="21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战略导师 · 不神化</a:t>
            </a:r>
            <a:br/>
            <a:r>
              <a:rPr a:eaTypeface="Microsoft YaHei"/>
              <a:t>以耐心换和平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1999" y="3168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“攻心为上，攻城为下。</a:t>
            </a:r>
            <a:br/>
            <a:r>
              <a:rPr a:eaTypeface="Microsoft YaHei"/>
              <a:t>心战为上，兵战为下。”</a:t>
            </a:r>
            <a:br/>
            <a:br/>
            <a:r>
              <a:rPr a:eaTypeface="Microsoft YaHei"/>
              <a:t>相信人心可以被感化。</a:t>
            </a:r>
            <a:br/>
            <a:r>
              <a:rPr a:eaTypeface="Microsoft YaHei"/>
              <a:t>真正的胜利不是杀戮，</a:t>
            </a:r>
            <a:br/>
            <a:r>
              <a:rPr a:eaTypeface="Microsoft YaHei"/>
              <a:t>是让对方心甘情愿。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2000" y="1080000"/>
            <a:ext cx="2700000" cy="27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2000" y="1080000"/>
            <a:ext cx="2700000" cy="144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2000" y="1296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孟获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000" y="1548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南中蛮族联盟领袖 · Boss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2000" y="1800000"/>
            <a:ext cx="2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约40岁。虎背熊腰，赤膊纹身，</a:t>
            </a:r>
            <a:br/>
            <a:r>
              <a:rPr a:eaTypeface="Microsoft YaHei"/>
              <a:t>头戴兽骨盔，手持战斧。</a:t>
            </a:r>
            <a:br/>
            <a:r>
              <a:rPr a:eaTypeface="Microsoft YaHei"/>
              <a:t>不是一个被“打败”的Boss，</a:t>
            </a:r>
            <a:br/>
            <a:r>
              <a:rPr a:eaTypeface="Microsoft YaHei"/>
              <a:t>而是一个被“理解”的人。</a:t>
            </a:r>
            <a:br/>
            <a:r>
              <a:rPr a:eaTypeface="Microsoft YaHei"/>
              <a:t>勇武且有自尊，有部落荣誉感。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2000" y="2808000"/>
            <a:ext cx="2340000" cy="288000"/>
          </a:xfrm>
          <a:prstGeom prst="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999" y="2844000"/>
            <a:ext cx="21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对手 → 宿敌 → 伙伴</a:t>
            </a:r>
            <a:br/>
            <a:r>
              <a:rPr a:eaTypeface="Microsoft YaHei"/>
              <a:t>从抗拒到理解到归心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2000" y="3168000"/>
            <a:ext cx="2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“我不是不相信他。</a:t>
            </a:r>
            <a:br/>
            <a:r>
              <a:rPr a:eaTypeface="Microsoft YaHei"/>
              <a:t>我只是不相信汉人。”</a:t>
            </a:r>
            <a:br/>
            <a:br/>
            <a:r>
              <a:rPr a:eaTypeface="Microsoft YaHei"/>
              <a:t>最终说出：</a:t>
            </a:r>
            <a:br/>
            <a:r>
              <a:rPr a:eaTypeface="Microsoft YaHei"/>
              <a:t>“公，天威也。</a:t>
            </a:r>
            <a:br/>
            <a:r>
              <a:rPr a:eaTypeface="Microsoft YaHei"/>
              <a:t>南人不复反矣。”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140000"/>
            <a:ext cx="8100000" cy="64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4212000"/>
            <a:ext cx="766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三条线交织 — 共同完成“心战”的闭环</a:t>
            </a:r>
          </a:p>
          <a:p>
            <a:pPr>
              <a:spcAft>
                <a:spcPts val="200"/>
              </a:spcAft>
              <a:defRPr sz="10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诸葛亮（授计者）→ 玩家小卒（执行者/见证者）→ 孟获（被感化者）</a:t>
            </a:r>
          </a:p>
          <a:p>
            <a:pPr>
              <a:spcAft>
                <a:spcPts val="200"/>
              </a:spcAft>
              <a:defRPr sz="10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师徒式关系：诸葛亮对玩家的解释，也是在对所有玩家“授课”。第7关那句“你可明白了？”同时问向角色与玩家。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06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叙事创新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把“攻心为上”从台词，变成可见、可玩、可验证的机制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152000"/>
            <a:ext cx="3780000" cy="1800000"/>
          </a:xfrm>
          <a:prstGeom prst="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224000"/>
            <a:ext cx="33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传统动作游戏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512000"/>
            <a:ext cx="3348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Boss 被打倒</a:t>
            </a:r>
          </a:p>
          <a:p>
            <a:pPr>
              <a:spcAft>
                <a:spcPts val="200"/>
              </a:spcAft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  <a:p>
            <a:pPr>
              <a:spcAft>
                <a:spcPts val="20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死亡 / 爆炸 / 通关画面</a:t>
            </a:r>
          </a:p>
          <a:p>
            <a:pPr>
              <a:spcAft>
                <a:spcPts val="200"/>
              </a:spcAft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  <a:p>
            <a:pPr>
              <a:spcAft>
                <a:spcPts val="200"/>
              </a:spcAft>
              <a:defRPr sz="1400" b="1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下一关</a:t>
            </a:r>
          </a:p>
          <a:p>
            <a:pPr>
              <a:spcAft>
                <a:spcPts val="200"/>
              </a:spcAft>
              <a:defRPr sz="800" b="0">
                <a:solidFill>
                  <a:srgbClr val="9CA3AF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叙事 = 战斗的句号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0000" y="1800000"/>
            <a:ext cx="158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0" y="1152000"/>
            <a:ext cx="3851999" cy="180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6000" y="122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《七擒孟获》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000" y="1512000"/>
            <a:ext cx="34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Boss 被打倒</a:t>
            </a:r>
          </a:p>
          <a:p>
            <a:pPr>
              <a:spcAft>
                <a:spcPts val="200"/>
              </a:spcAft>
              <a:defRPr sz="14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  <a:p>
            <a:pPr>
              <a:spcAft>
                <a:spcPts val="200"/>
              </a:spcAft>
              <a:defRPr sz="14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被擒获 · 诸葛亮释放</a:t>
            </a:r>
          </a:p>
          <a:p>
            <a:pPr>
              <a:spcAft>
                <a:spcPts val="200"/>
              </a:spcAft>
              <a:defRPr sz="14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↓</a:t>
            </a:r>
          </a:p>
          <a:p>
            <a:pPr>
              <a:spcAft>
                <a:spcPts val="200"/>
              </a:spcAft>
              <a:defRPr sz="14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孟获带新理由再战</a:t>
            </a:r>
          </a:p>
          <a:p>
            <a:pPr>
              <a:spcAft>
                <a:spcPts val="200"/>
              </a:spcAft>
              <a:defRPr sz="800" b="0">
                <a:solidFill>
                  <a:srgbClr val="D4A01E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叙事 = 新故事的开始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168000"/>
            <a:ext cx="3960000" cy="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3240000"/>
            <a:ext cx="367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擒而不杀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492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每次战胜孟获后触发释放叙事节点。诸葛亮下令松绑，孟获震惊、困惑、反思—这些情绪变化成为下一步关卡设计的动机。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2000" y="3168000"/>
            <a:ext cx="3960000" cy="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6000" y="3240000"/>
            <a:ext cx="367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纵而再战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6000" y="3492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下次相遇时孟获更强、更狡猾，关卡机制同步深化。第1关轻敌→第7关全力以赴，难度和复杂度与心态弧线同步增长。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4176000"/>
            <a:ext cx="3960000" cy="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4248000"/>
            <a:ext cx="367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玩家追问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500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首通不可跳过的擒获过场确保玩家亲历“为什么放他走”的困惑。验收标准：玩家通关后能主动说出—“我打赢了，但故事还没结束。”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2000" y="4176000"/>
            <a:ext cx="3960000" cy="9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6000" y="4248000"/>
            <a:ext cx="367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AI计谋增强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6000" y="4500000"/>
            <a:ext cx="3671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腾讯混元大模型根据玩家上关行为（用时/死亡/受伤）动态生成诸葛亮计谋台词，有本地 fallback 保证不阻塞主流程。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07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美术方向：像素三国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复古街机的动作感 + 国风水墨的历史质感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108000" cy="90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11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像素基底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36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16×16 或 32×32 Sprite，保持魂斗罗式的爽快感。角色与战斗保持清晰可读。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160000"/>
            <a:ext cx="108000" cy="900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9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国风点缀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44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UI 边框：水墨笔触纹理</a:t>
            </a:r>
            <a:br/>
            <a:r>
              <a:rPr a:eaTypeface="Microsoft YaHei"/>
              <a:t>标题/关卡名：毛笔手写字体</a:t>
            </a:r>
            <a:br/>
            <a:r>
              <a:rPr a:eaTypeface="Microsoft YaHei"/>
              <a:t>过场插画：水墨渲染 + 像素角色</a:t>
            </a:r>
            <a:br/>
            <a:r>
              <a:rPr a:eaTypeface="Microsoft YaHei"/>
              <a:t>粒子效果：墨滴飞溅替代传统火花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240000"/>
            <a:ext cx="108000" cy="9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327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低饱和调色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352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朱砂红、墨绿、古铜、深蓝为主色调，避免高饱和“游戏感”。营造历史的厚重与沉淀。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320000"/>
            <a:ext cx="108000" cy="9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35600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rPr a:eaTypeface="Microsoft YaHei"/>
              <a:t>色调叙事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608000"/>
            <a:ext cx="36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七关从翠绿到金棕，环境色调映射孟获心态从轻浮到沉淀的变化。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0" y="1080000"/>
            <a:ext cx="3960000" cy="43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0" y="118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七关环境色调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0000" y="1512000"/>
            <a:ext cx="288000" cy="432000"/>
          </a:xfrm>
          <a:prstGeom prst="rect">
            <a:avLst/>
          </a:prstGeom>
          <a:solidFill>
            <a:srgbClr val="4A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000" y="153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第1擒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0000" y="171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西洱河平原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153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翠绿+天蓝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0000" y="171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开阔、初战、轻敌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0000" y="2052000"/>
            <a:ext cx="288000" cy="43200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0000" y="207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第2擒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0000" y="225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泸水河岸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0" y="207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深蓝+灰白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225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险峻、湍急、沉着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0000" y="2592000"/>
            <a:ext cx="288000" cy="432000"/>
          </a:xfrm>
          <a:prstGeom prst="rect">
            <a:avLst/>
          </a:prstGeom>
          <a:solidFill>
            <a:srgbClr val="5C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0000" y="261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第3擒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0000" y="279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紫荆山密林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0" y="261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墨绿+褐黄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279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压抑、伏击、智斗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0000" y="3131999"/>
            <a:ext cx="288000" cy="432000"/>
          </a:xfrm>
          <a:prstGeom prst="rect">
            <a:avLst/>
          </a:prstGeom>
          <a:solidFill>
            <a:srgbClr val="8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20000" y="315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第4擒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0000" y="333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秃龙洞洞窟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0000" y="315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暗紫+荧光绿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0000" y="333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诡异、毒雾、坚持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0000" y="3671999"/>
            <a:ext cx="288000" cy="43200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0000" y="369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第5擒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0000" y="387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蛮族联盟营寨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0000" y="369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赭红+土黄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0000" y="387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宏大、联战、暗流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60000" y="4212000"/>
            <a:ext cx="288000" cy="43200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20000" y="423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第6擒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20000" y="441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蛮夷要塞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0000" y="423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深红+铁灰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0000" y="441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烈火、机关、反制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60000" y="4752000"/>
            <a:ext cx="288000" cy="432000"/>
          </a:xfrm>
          <a:prstGeom prst="rect">
            <a:avLst/>
          </a:prstGeom>
          <a:solidFill>
            <a:srgbClr val="C4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20000" y="477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第7擒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0000" y="495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银坑洞王庭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0000" y="4770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金+深棕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0000" y="4950000"/>
            <a:ext cx="23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壮阔、决战、折服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08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技术方案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Web 可玩 Demo：Phaser 3 + TypeScript + Vite + CloudBase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2000"/>
            <a:ext cx="1980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152000"/>
            <a:ext cx="1980000" cy="14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Phaser 3.60+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20000"/>
            <a:ext cx="17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游戏引擎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72000"/>
            <a:ext cx="17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零安装，浏览器直跑</a:t>
            </a:r>
            <a:br/>
            <a:r>
              <a:rPr a:eaTypeface="Microsoft YaHei"/>
              <a:t>评审官零门槛</a:t>
            </a:r>
            <a:br/>
            <a:r>
              <a:rPr a:eaTypeface="Microsoft YaHei"/>
              <a:t>2D 游戏框架成熟稳定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2000" y="1152000"/>
            <a:ext cx="1980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92000" y="1152000"/>
            <a:ext cx="1980000" cy="144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0000" y="1368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TypeScript 5.0+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1620000"/>
            <a:ext cx="17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编程语言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1872000"/>
            <a:ext cx="17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类型安全，大型项目可维护</a:t>
            </a:r>
            <a:br/>
            <a:r>
              <a:rPr a:eaTypeface="Microsoft YaHei"/>
              <a:t>代码提示友好</a:t>
            </a:r>
            <a:br/>
            <a:r>
              <a:rPr a:eaTypeface="Microsoft YaHei"/>
              <a:t>重构安全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2000" y="1152000"/>
            <a:ext cx="1980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2000" y="1152000"/>
            <a:ext cx="1980000" cy="144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0" y="1368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Vite 5.0+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0000" y="1620000"/>
            <a:ext cx="17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构建工具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0000" y="1872000"/>
            <a:ext cx="17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极速 HMR，开发体验好</a:t>
            </a:r>
            <a:br/>
            <a:r>
              <a:rPr a:eaTypeface="Microsoft YaHei"/>
              <a:t>秒级冷启动</a:t>
            </a:r>
            <a:br/>
            <a:r>
              <a:rPr a:eaTypeface="Microsoft YaHei"/>
              <a:t>天然支持 TypeScript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2000" y="1152000"/>
            <a:ext cx="1980000" cy="16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2000" y="1152000"/>
            <a:ext cx="1980000" cy="14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0000" y="1368000"/>
            <a:ext cx="17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rPr a:eaTypeface="Microsoft YaHei"/>
              <a:t>CloudBase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0000" y="1620000"/>
            <a:ext cx="176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部署平台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0" y="1872000"/>
            <a:ext cx="17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腾讯云静态托管</a:t>
            </a:r>
            <a:br/>
            <a:r>
              <a:rPr a:eaTypeface="Microsoft YaHei"/>
              <a:t>一键部署</a:t>
            </a:r>
            <a:br/>
            <a:r>
              <a:rPr a:eaTypeface="Microsoft YaHei"/>
              <a:t>腾讯生态深度集成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060000"/>
            <a:ext cx="8100000" cy="16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000" y="3131999"/>
            <a:ext cx="7668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AI 动态计谋系统（加分项）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流程：玩家上关数据（用时/死亡/受伤）→ 行为分析（激进/稳健/快/慢）→ 腾讯混元大模型 → 诸葛亮计谋台词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设计原则</a:t>
            </a:r>
          </a:p>
          <a:p>
            <a:pPr>
              <a:spcAft>
                <a:spcPts val="200"/>
              </a:spcAft>
              <a:defRPr sz="10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· AI 只生成非关键短建议（战术/心性提醒），主线剧情由人类写定</a:t>
            </a:r>
          </a:p>
          <a:p>
            <a:pPr>
              <a:spcAft>
                <a:spcPts val="200"/>
              </a:spcAft>
              <a:defRPr sz="10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· 本地 fallback 模板优先，不允许 API 阻塞主流程</a:t>
            </a:r>
          </a:p>
          <a:p>
            <a:pPr>
              <a:spcAft>
                <a:spcPts val="200"/>
              </a:spcAft>
              <a:defRPr sz="1000" b="0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· 诸葛亮语气约束：战前严肃简洁 / 日常温和有洞察 / 关键节点厚重有分量</a:t>
            </a:r>
          </a:p>
          <a:p>
            <a:pPr>
              <a:spcAft>
                <a:spcPts val="200"/>
              </a:spcAft>
              <a:defRPr sz="600" b="0">
                <a:solidFill>
                  <a:srgbClr val="F1F0EB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rPr a:eaTypeface="Microsoft YaHei"/>
              <a:t>架构：5层分层（Scenes·UI·Systems·Entities·Core/Utils），场景即入口，System无状态，Entity自包含，Data驱动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09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MVP 演示范围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先做第1关“西洱河初战”完整纵切，证明核心体验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152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1260000"/>
            <a:ext cx="432000" cy="28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278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1278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诸葛亮授计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2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“此战所求，非杀戮，乃归心。我要活的。”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56000" y="1152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4000" y="1260000"/>
            <a:ext cx="432000" cy="28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4000" y="1278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4000" y="1278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基础教学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4000" y="162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玩家学习移动、跳跃、射击（魂斗罗式八方向）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1152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88000" y="1260000"/>
            <a:ext cx="432000" cy="288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8000" y="1278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8000" y="1278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关卡推进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8000" y="162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平原行军→河岸遭遇战，蛮兵增多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4000" y="1152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12000" y="1260000"/>
            <a:ext cx="432000" cy="28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2000" y="1278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000" y="1278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rPr a:eaTypeface="Microsoft YaHei"/>
              <a:t>Boss 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000" y="1620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孟获骑战象登场：象鼻横扫/踏地震击/冲锋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2520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000" y="2628000"/>
            <a:ext cx="432000" cy="28800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2646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" y="2646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5A3C"/>
                </a:solidFill>
                <a:latin typeface="Microsoft YaHei"/>
              </a:defRPr>
            </a:pPr>
            <a:r>
              <a:rPr a:eaTypeface="Microsoft YaHei"/>
              <a:t>击败 Boss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2988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孟获台词：‘什么？！这不可能——’ 玩家以为自己通关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56000" y="2520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64000" y="2628000"/>
            <a:ext cx="432000" cy="28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64000" y="2646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4000" y="2646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擒获释放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4000" y="2988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诸葛亮下令松绑：‘将军勇则勇矣，然未识天时。’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80000" y="2520000"/>
            <a:ext cx="1944000" cy="118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88000" y="2628000"/>
            <a:ext cx="432000" cy="28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88000" y="2646000"/>
            <a:ext cx="4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8000" y="2646000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关卡结算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88000" y="2988000"/>
            <a:ext cx="172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第一擒完成，第二擒解锁。历史碎片收集。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2000" y="4140000"/>
            <a:ext cx="8100000" cy="72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000" y="4212000"/>
            <a:ext cx="766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验收标准</a:t>
            </a:r>
          </a:p>
          <a:p>
            <a:pPr>
              <a:spcAft>
                <a:spcPts val="200"/>
              </a:spcAft>
              <a:defRPr sz="1400" b="1">
                <a:solidFill>
                  <a:srgbClr val="F1F0EB"/>
                </a:solidFill>
                <a:latin typeface="Microsoft YaHei"/>
              </a:defRPr>
            </a:pPr>
            <a:r>
              <a:rPr a:eaTypeface="Microsoft YaHei"/>
              <a:t>玩家通关后能主动说出 — “我打赢了，但故事还没结束。”</a:t>
            </a:r>
          </a:p>
          <a:p>
            <a:pPr>
              <a:spcAft>
                <a:spcPts val="2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rPr a:eaTypeface="Microsoft YaHei"/>
              <a:t>技术验收：30秒内学会移动+跳跃+射击 / 2分钟内遇首个叙事节点 / 5分钟内完成首次Boss战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10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DC2626"/>
                </a:solidFill>
                <a:latin typeface="Georgia"/>
              </a:defRPr>
            </a:pPr>
            <a:r>
              <a:rPr a:eaTypeface="Georgia"/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0000" y="28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研发进度与下一步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684000"/>
            <a:ext cx="7920000" cy="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792000"/>
            <a:ext cx="81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  <a:latin typeface="Microsoft YaHei"/>
              </a:defRPr>
            </a:pPr>
            <a:r>
              <a:rPr a:eaTypeface="Microsoft YaHei"/>
              <a:t>Phase 2 MVP 已搭建完成，核心战斗可玩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108000" cy="108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11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rPr a:eaTypeface="Microsoft YaHei"/>
              <a:t>Phase 1  ✅ 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368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产品定义 &amp; 叙事设计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58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GDD / 世界观圣经 / 关卡叙事大纲 / 角色设定表 / 视觉概念定稿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340000"/>
            <a:ext cx="108000" cy="10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37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5F"/>
                </a:solidFill>
                <a:latin typeface="Microsoft YaHei"/>
              </a:defRPr>
            </a:pPr>
            <a:r>
              <a:rPr a:eaTypeface="Microsoft YaHei"/>
              <a:t>Phase 2  🔄 进行中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MVP 第1关纵切原型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284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5层模块架构 / Player+Enemy+Boss 实体 / 全部核心系统（含 CaptureSystem）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600000"/>
            <a:ext cx="108000" cy="10800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363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2A"/>
                </a:solidFill>
                <a:latin typeface="Microsoft YaHei"/>
              </a:defRPr>
            </a:pPr>
            <a:r>
              <a:rPr a:eaTypeface="Microsoft YaHei"/>
              <a:t>Phase 3  📋 计划中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888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第2-7关铺量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410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基于第1关模板批量生产 · 每关独特机制 + 叙事变体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860000"/>
            <a:ext cx="108000" cy="10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4896000"/>
            <a:ext cx="2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rPr a:eaTypeface="Microsoft YaHei"/>
              <a:t>Phase 4  📋 计划中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5148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  <a:latin typeface="Microsoft YaHei"/>
              </a:defRPr>
            </a:pPr>
            <a:r>
              <a:rPr a:eaTypeface="Microsoft YaHei"/>
              <a:t>AI 集成 + 打磨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5364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混元LLM 动态台词 / 像素美术资产 / 音效BGM / 多语言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80000"/>
            <a:ext cx="8100000" cy="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5616000"/>
            <a:ext cx="78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4B5563"/>
                </a:solidFill>
                <a:latin typeface="Microsoft YaHei"/>
              </a:defRPr>
            </a:pPr>
            <a:r>
              <a:rPr a:eaTypeface="Microsoft YaHei"/>
              <a:t>11个开发批次（Batch 0-11）· 四大通信模式解耦 · 配置化驱动 · 本地 fallback 优先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11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77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imHei"/>
              </a:defRPr>
            </a:pPr>
            <a:r>
              <a:rPr a:eaTypeface="SimHei"/>
              <a:t>真正的胜利，</a:t>
            </a:r>
            <a:br/>
            <a:r>
              <a:rPr a:eaTypeface="SimHei"/>
              <a:t>不是消灭敌人。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700000"/>
            <a:ext cx="7703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01E"/>
                </a:solidFill>
                <a:latin typeface="SimHei"/>
              </a:defRPr>
            </a:pPr>
            <a:r>
              <a:rPr a:eaTypeface="SimHei"/>
              <a:t>而是让冲突双方</a:t>
            </a:r>
            <a:br/>
            <a:r>
              <a:rPr a:eaTypeface="SimHei"/>
              <a:t>找到共同秩序。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0" y="3960000"/>
            <a:ext cx="3384000" cy="3600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4140000"/>
            <a:ext cx="6983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《七擒孟获》将“七擒七纵、攻心为上”做成关卡循环、Boss 机制和玩家情绪体验。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4860000"/>
            <a:ext cx="1260000" cy="36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00000" y="491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横版射击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1999" y="4860000"/>
            <a:ext cx="1260000" cy="36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1999" y="491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七擒七纵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4000" y="4860000"/>
            <a:ext cx="1260000" cy="36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4000" y="491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小兵视角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000" y="4860000"/>
            <a:ext cx="1260000" cy="360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000" y="4914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E"/>
                </a:solidFill>
                <a:latin typeface="Microsoft YaHei"/>
              </a:defRPr>
            </a:pPr>
            <a:r>
              <a:rPr a:eaTypeface="Microsoft YaHei"/>
              <a:t>攻心为上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760000"/>
            <a:ext cx="770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a:eaTypeface="Microsoft YaHei"/>
              <a:t>Q &amp;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6192000"/>
            <a:ext cx="770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腾讯云黑客松 · 叙事类游戏赛道 · Phaser 3 + TypeScript + Vite + CloudBase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999"/>
            <a:ext cx="9144000" cy="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6552000"/>
            <a:ext cx="10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rPr a:eaTypeface="Microsoft YaHei"/>
              <a:t>七擒孟获 · 游戏介绍  12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